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14" userDrawn="1">
          <p15:clr>
            <a:srgbClr val="A4A3A4"/>
          </p15:clr>
        </p15:guide>
        <p15:guide id="4" pos="4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/>
      <p:ext uri="{2FDB2607-1784-4EEB-B798-7EB5836EED8A}"/>
    </p:extLst>
  </p:showPr>
  <p:clrMru>
    <a:srgbClr val="EDE4FF"/>
    <a:srgbClr val="FFF5E3"/>
  </p:clrMru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69" y="202"/>
      </p:cViewPr>
      <p:guideLst>
        <p:guide orient="horz" pos="2160"/>
        <p:guide pos="3840"/>
        <p:guide orient="horz" pos="414"/>
        <p:guide pos="43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presProps" Target="presProps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8" Type="http://schemas.openxmlformats.org/officeDocument/2006/relationships/notesMaster" Target="notesMasters/notesMaster1.xml" /><Relationship Id="rId10" Type="http://schemas.openxmlformats.org/officeDocument/2006/relationships/tableStyles" Target="tableStyle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11" Type="http://schemas.openxmlformats.org/officeDocument/2006/relationships/viewProps" Target="viewProps.xml" /><Relationship Id="rId4" Type="http://schemas.openxmlformats.org/officeDocument/2006/relationships/slide" Target="slides/slide4.xml" /><Relationship Id="rId2" Type="http://schemas.openxmlformats.org/officeDocument/2006/relationships/slide" Target="slides/slide2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775E285C-0E9D-4B4E-A3D0-12B9E4BB53A8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45301383-A318-44DE-B4DB-E9EC46E0C6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45301383-A318-44DE-B4DB-E9EC46E0C6B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4" Type="http://schemas.openxmlformats.org/officeDocument/2006/relationships/image" Target="media/image4.png" /><Relationship Id="rId3" Type="http://schemas.openxmlformats.org/officeDocument/2006/relationships/image" Target="media/image3.png" /><Relationship Id="rId2" Type="http://schemas.openxmlformats.org/officeDocument/2006/relationships/image" Target="media/image2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1.png" /></Relationships>
</file>

<file path=ppt/slideLayouts/_rels/slideLayout2.xml.rels><?xml version="1.0" encoding="UTF-8" standalone="yes"?><Relationships xmlns="http://schemas.openxmlformats.org/package/2006/relationships"><Relationship Id="rId4" Type="http://schemas.openxmlformats.org/officeDocument/2006/relationships/image" Target="media/image4.png" /><Relationship Id="rId3" Type="http://schemas.openxmlformats.org/officeDocument/2006/relationships/image" Target="media/image3.png" /><Relationship Id="rId2" Type="http://schemas.openxmlformats.org/officeDocument/2006/relationships/image" Target="media/image2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1.png" /></Relationships>
</file>

<file path=ppt/slideLayouts/_rels/slideLayout3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1.png" 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标题幻灯片">
    <p:bg>
      <p:bgPr>
        <a:solidFill>
          <a:srgbClr val="EDE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1383383" y="303148"/>
            <a:ext cx="463336" cy="463336"/>
          </a:xfrm>
          <a:prstGeom prst="rect">
            <a:avLst/>
          </a:prstGeom>
        </p:spPr>
      </p:pic>
      <p:pic>
        <p:nvPicPr>
          <p:cNvPr id="3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189397" y="1388945"/>
            <a:ext cx="7274767" cy="4080108"/>
          </a:xfrm>
          <a:prstGeom prst="rect">
            <a:avLst/>
          </a:prstGeom>
        </p:spPr>
      </p:pic>
      <p:pic>
        <p:nvPicPr>
          <p:cNvPr id="4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553352" y="2705785"/>
            <a:ext cx="5035809" cy="1073205"/>
          </a:xfrm>
          <a:prstGeom prst="rect">
            <a:avLst/>
          </a:prstGeom>
        </p:spPr>
      </p:pic>
      <p:pic>
        <p:nvPicPr>
          <p:cNvPr id="5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7939596" y="3328715"/>
            <a:ext cx="557199" cy="2357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1_标题幻灯片">
    <p:bg>
      <p:bgPr>
        <a:solidFill>
          <a:srgbClr val="EDE4FF"/>
        </a:solidFill>
        <a:effectLst/>
      </p:bgPr>
    </p:bg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7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1383383" y="303148"/>
            <a:ext cx="463336" cy="463336"/>
          </a:xfrm>
          <a:prstGeom prst="rect">
            <a:avLst/>
          </a:prstGeom>
        </p:spPr>
      </p:pic>
      <p:pic>
        <p:nvPicPr>
          <p:cNvPr id="8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340284" y="1388946"/>
            <a:ext cx="7274767" cy="4080108"/>
          </a:xfrm>
          <a:prstGeom prst="rect">
            <a:avLst/>
          </a:prstGeom>
        </p:spPr>
      </p:pic>
      <p:pic>
        <p:nvPicPr>
          <p:cNvPr id="9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321449" y="1875360"/>
            <a:ext cx="5035809" cy="1073205"/>
          </a:xfrm>
          <a:prstGeom prst="rect">
            <a:avLst/>
          </a:prstGeom>
        </p:spPr>
      </p:pic>
      <p:pic>
        <p:nvPicPr>
          <p:cNvPr id="10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8093975" y="3328715"/>
            <a:ext cx="557199" cy="2357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标题和内容"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6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1383383" y="303148"/>
            <a:ext cx="463336" cy="463336"/>
          </a:xfrm>
          <a:prstGeom prst="rect">
            <a:avLst/>
          </a:prstGeom>
        </p:spPr>
      </p:pic>
      <p:pic>
        <p:nvPicPr>
          <p:cNvPr id="13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80332" y="6012254"/>
            <a:ext cx="1954958" cy="416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节标题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6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1383383" y="303148"/>
            <a:ext cx="463336" cy="4633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4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10C88A27-3EA5-4413-ADD8-644D0F65D282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B009959-BD13-43C7-AF37-BF20C14D44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8"/>
          <p:cNvSpPr txBox="1"/>
          <p:nvPr/>
        </p:nvSpPr>
        <p:spPr>
          <a:xfrm>
            <a:off x="1278420" y="3429000"/>
            <a:ext cx="4616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2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作品名称：</a:t>
            </a:r>
            <a:r>
              <a:rPr lang="en-US" altLang="zh-CN" sz="2400" dirty="0" err="1">
                <a:latin typeface="MiSans" pitchFamily="50" charset="-122"/>
                <a:ea typeface="MiSans" pitchFamily="50" charset="-122"/>
                <a:cs typeface="MiSans" pitchFamily="50" charset="-122"/>
              </a:rPr>
              <a:t>xxxxxxxxxxxxxxxxxxx</a:t>
            </a:r>
            <a:endParaRPr lang="en-US" altLang="zh-CN" sz="24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1278420" y="3890665"/>
            <a:ext cx="3334567" cy="1023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团队名称：</a:t>
            </a:r>
            <a:r>
              <a:rPr lang="en-US" altLang="zh-CN" sz="1500" dirty="0" err="1">
                <a:latin typeface="MiSans" pitchFamily="50" charset="-122"/>
                <a:ea typeface="MiSans" pitchFamily="50" charset="-122"/>
                <a:cs typeface="MiSans" pitchFamily="50" charset="-122"/>
              </a:rPr>
              <a:t>xxxxxxxxxxxxxxxxxxx</a:t>
            </a:r>
            <a:endParaRPr lang="en-US" altLang="zh-CN" sz="1500" dirty="0">
              <a:latin typeface="MiSans" pitchFamily="50" charset="-122"/>
              <a:ea typeface="MiSans" pitchFamily="50" charset="-122"/>
              <a:cs typeface="MiSans" pitchFamily="50" charset="-122"/>
            </a:endParaRPr>
          </a:p>
          <a:p>
            <a:pPr>
              <a:lnSpc>
                <a:spcPts val="2500"/>
              </a:lnSpc>
            </a:pPr>
            <a:r>
              <a:rPr lang="zh-CN" altLang="en-US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团队成员：</a:t>
            </a:r>
            <a:r>
              <a:rPr lang="en-US" altLang="zh-CN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xxx</a:t>
            </a:r>
            <a:r>
              <a:rPr lang="zh-CN" altLang="en-US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、</a:t>
            </a:r>
            <a:r>
              <a:rPr lang="en-US" altLang="zh-CN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xxx</a:t>
            </a:r>
            <a:r>
              <a:rPr lang="zh-CN" altLang="en-US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、</a:t>
            </a:r>
            <a:r>
              <a:rPr lang="en-US" altLang="zh-CN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xxx</a:t>
            </a:r>
            <a:r>
              <a:rPr lang="zh-CN" altLang="en-US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、</a:t>
            </a:r>
            <a:r>
              <a:rPr lang="en-US" altLang="zh-CN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xxx</a:t>
            </a:r>
            <a:r>
              <a:rPr lang="zh-CN" altLang="en-US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、</a:t>
            </a:r>
            <a:r>
              <a:rPr lang="en-US" altLang="zh-CN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xxx</a:t>
            </a:r>
            <a:endParaRPr/>
          </a:p>
          <a:p>
            <a:pPr>
              <a:lnSpc>
                <a:spcPts val="2500"/>
              </a:lnSpc>
            </a:pPr>
            <a:r>
              <a:rPr lang="zh-CN" altLang="en-US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学校名称：</a:t>
            </a:r>
            <a:r>
              <a:rPr lang="en-US" altLang="zh-CN" sz="15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xxx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600983" y="601061"/>
            <a:ext cx="42209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1pPr>
            <a:lvl2pPr marL="742950" indent="-285750"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2pPr>
            <a:lvl3pPr marL="1143000" indent="-228600"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3pPr>
            <a:lvl4pPr marL="1600200" indent="-228600"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4pPr>
            <a:lvl5pPr marL="2057400" indent="-228600"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5pPr>
            <a:lvl6pPr marL="2514600" indent="-228600" defTabSz="2436813" eaLnBrk="0" fontAlgn="base" hangingPunct="0">
              <a:spcBef>
                <a:spcPct val="1"/>
              </a:spcBef>
              <a:spcAft>
                <a:spcPct val="1"/>
              </a:spcAft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6pPr>
            <a:lvl7pPr marL="2971800" indent="-228600" defTabSz="2436813" eaLnBrk="0" fontAlgn="base" hangingPunct="0">
              <a:spcBef>
                <a:spcPct val="1"/>
              </a:spcBef>
              <a:spcAft>
                <a:spcPct val="1"/>
              </a:spcAft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7pPr>
            <a:lvl8pPr marL="3429000" indent="-228600" defTabSz="2436813" eaLnBrk="0" fontAlgn="base" hangingPunct="0">
              <a:spcBef>
                <a:spcPct val="1"/>
              </a:spcBef>
              <a:spcAft>
                <a:spcPct val="1"/>
              </a:spcAft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8pPr>
            <a:lvl9pPr marL="3886200" indent="-228600" defTabSz="2436813" eaLnBrk="0" fontAlgn="base" hangingPunct="0">
              <a:spcBef>
                <a:spcPct val="1"/>
              </a:spcBef>
              <a:spcAft>
                <a:spcPct val="1"/>
              </a:spcAft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Sans Demibold" pitchFamily="50" charset="-122"/>
                <a:ea typeface="MiSans Demibold" pitchFamily="50" charset="-122"/>
                <a:cs typeface="MiSans Demibold" pitchFamily="50" charset="-122"/>
              </a:rPr>
              <a:t>作品目标及研究方向</a:t>
            </a:r>
            <a:endParaRPr/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600983" y="1209602"/>
            <a:ext cx="6390486" cy="135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1pPr>
            <a:lvl2pPr marL="742950" indent="-285750"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2pPr>
            <a:lvl3pPr marL="571500" indent="-571500"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3pPr>
            <a:lvl4pPr marL="1600200" indent="-228600"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4pPr>
            <a:lvl5pPr marL="2057400" indent="-228600"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5pPr>
            <a:lvl6pPr marL="2514600" indent="-228600" defTabSz="2436813" eaLnBrk="0" fontAlgn="base" hangingPunct="0">
              <a:spcBef>
                <a:spcPct val="1"/>
              </a:spcBef>
              <a:spcAft>
                <a:spcPct val="1"/>
              </a:spcAft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6pPr>
            <a:lvl7pPr marL="2971800" indent="-228600" defTabSz="2436813" eaLnBrk="0" fontAlgn="base" hangingPunct="0">
              <a:spcBef>
                <a:spcPct val="1"/>
              </a:spcBef>
              <a:spcAft>
                <a:spcPct val="1"/>
              </a:spcAft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7pPr>
            <a:lvl8pPr marL="3429000" indent="-228600" defTabSz="2436813" eaLnBrk="0" fontAlgn="base" hangingPunct="0">
              <a:spcBef>
                <a:spcPct val="1"/>
              </a:spcBef>
              <a:spcAft>
                <a:spcPct val="1"/>
              </a:spcAft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8pPr>
            <a:lvl9pPr marL="3886200" indent="-228600" defTabSz="2436813" eaLnBrk="0" fontAlgn="base" hangingPunct="0">
              <a:spcBef>
                <a:spcPct val="1"/>
              </a:spcBef>
              <a:spcAft>
                <a:spcPct val="1"/>
              </a:spcAft>
              <a:defRPr sz="4400">
                <a:solidFill>
                  <a:srgbClr val="FFFFFF"/>
                </a:solidFill>
                <a:latin typeface="MiSans Light" charset="-122"/>
                <a:ea typeface="MiSans Light" charset="-122"/>
                <a:sym typeface="MiSans Light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内容包含但不限于如下：</a:t>
            </a:r>
            <a:endParaRPr/>
          </a:p>
          <a:p>
            <a:pPr marL="171450" lvl="2" indent="-1714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选择这个项目方向的原因（可根据个人/团队的实际情况阐述）</a:t>
            </a:r>
            <a:endParaRPr/>
          </a:p>
          <a:p>
            <a:pPr marL="171450" lvl="2" indent="-1714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项目的必要性及重要意义（可从个人/社会等各维度阐述）</a:t>
            </a:r>
            <a:endParaRPr/>
          </a:p>
          <a:p>
            <a:pPr marL="171450" lvl="2" indent="-1714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  <a:latin typeface="MiSans" pitchFamily="50" charset="-122"/>
                <a:ea typeface="MiSans" pitchFamily="50" charset="-122"/>
                <a:cs typeface="MiSans" pitchFamily="50" charset="-122"/>
              </a:rPr>
              <a:t>项目目标及未来愿景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595559" y="657225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000" dirty="0">
                <a:latin typeface="MiSans Demibold" pitchFamily="50" charset="-122"/>
                <a:ea typeface="MiSans Demibold" pitchFamily="50" charset="-122"/>
                <a:cs typeface="MiSans Demibold" pitchFamily="50" charset="-122"/>
              </a:rPr>
              <a:t>作品阐述</a:t>
            </a:r>
            <a:endParaRPr/>
          </a:p>
        </p:txBody>
      </p:sp>
      <p:sp>
        <p:nvSpPr>
          <p:cNvPr id="9" name="矩形 2"/>
          <p:cNvSpPr/>
          <p:nvPr/>
        </p:nvSpPr>
        <p:spPr>
          <a:xfrm>
            <a:off x="595559" y="1137046"/>
            <a:ext cx="9899915" cy="337015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内容包含但不限于如下：</a:t>
            </a:r>
            <a:endParaRPr/>
          </a:p>
          <a:p>
            <a:pPr marL="171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作品方向阐述及作品名称介绍</a:t>
            </a:r>
            <a:endParaRPr/>
          </a:p>
          <a:p>
            <a:pPr marL="171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作品介绍：请从作品创新性、技术领先性、应用场景、用户体验、商业价值、作品完成度等几个维度阐述。</a:t>
            </a:r>
            <a:endParaRPr/>
          </a:p>
          <a:p>
            <a:pPr marL="0" lvl="2">
              <a:lnSpc>
                <a:spcPct val="150000"/>
              </a:lnSpc>
            </a:pP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1. 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作品创新性：参赛作品的创新性，同类技术场景下具有明显差异性。</a:t>
            </a:r>
            <a:endParaRPr/>
          </a:p>
          <a:p>
            <a:pPr marL="0" lvl="2">
              <a:lnSpc>
                <a:spcPct val="150000"/>
              </a:lnSpc>
            </a:pP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2. 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技术领先性：作品所应用的技术具有领先性和突破性。作品已申请专利或有申请专利潜质。</a:t>
            </a:r>
            <a:endParaRPr/>
          </a:p>
          <a:p>
            <a:pPr marL="0" lvl="2">
              <a:lnSpc>
                <a:spcPct val="150000"/>
              </a:lnSpc>
            </a:pP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3. 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应用场景：参赛作品拥有实际应用场景，能够解决实际问题。</a:t>
            </a:r>
            <a:endParaRPr/>
          </a:p>
          <a:p>
            <a:pPr marL="0" lvl="2">
              <a:lnSpc>
                <a:spcPct val="150000"/>
              </a:lnSpc>
            </a:pP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4. 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用户体验：参赛作品的用户感受良好，包括视觉设计、用户旅程设计等。</a:t>
            </a:r>
            <a:endParaRPr/>
          </a:p>
          <a:p>
            <a:pPr marL="0" lvl="2">
              <a:lnSpc>
                <a:spcPct val="150000"/>
              </a:lnSpc>
            </a:pP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5. 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商业价值：参赛作品的技术、服务模式具备商业潜力，能给产业带来积极影响。</a:t>
            </a:r>
            <a:endParaRPr/>
          </a:p>
          <a:p>
            <a:pPr marL="0" lvl="2">
              <a:lnSpc>
                <a:spcPct val="150000"/>
              </a:lnSpc>
            </a:pP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6. 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作品完成度：目标明确、逻辑严谨、效果清晰。</a:t>
            </a: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48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小时内实现效果完整。</a:t>
            </a:r>
            <a:endParaRPr/>
          </a:p>
          <a:p>
            <a:pPr marL="171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  <a:sym typeface="MiSans Light" charset="0"/>
              </a:rPr>
              <a:t>其他特殊性价值阐述（如有）。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610093" y="609995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000" dirty="0">
                <a:latin typeface="MiSans Demibold" pitchFamily="50" charset="-122"/>
                <a:ea typeface="MiSans Demibold" pitchFamily="50" charset="-122"/>
                <a:cs typeface="MiSans Demibold" pitchFamily="50" charset="-122"/>
              </a:rPr>
              <a:t>作品效果演示</a:t>
            </a:r>
            <a:endParaRPr/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610093" y="1104843"/>
            <a:ext cx="4132292" cy="102688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内容包含但不限于如下：</a:t>
            </a:r>
            <a:endParaRPr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作品展示：介绍视频</a:t>
            </a: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/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图片</a:t>
            </a:r>
            <a:endParaRPr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作品演示：演示视频</a:t>
            </a: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/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现场演示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627131" y="657225"/>
            <a:ext cx="25603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zh-CN" sz="2000" dirty="0">
                <a:latin typeface="MiSans Demibold" pitchFamily="50" charset="-122"/>
                <a:ea typeface="MiSans Demibold" pitchFamily="50" charset="-122"/>
                <a:cs typeface="MiSans Demibold" pitchFamily="50" charset="-122"/>
              </a:rPr>
              <a:t>48</a:t>
            </a:r>
            <a:r>
              <a:rPr lang="zh-CN" altLang="en-US" sz="2000" dirty="0">
                <a:latin typeface="MiSans Demibold" pitchFamily="50" charset="-122"/>
                <a:ea typeface="MiSans Demibold" pitchFamily="50" charset="-122"/>
                <a:cs typeface="MiSans Demibold" pitchFamily="50" charset="-122"/>
              </a:rPr>
              <a:t>小时项目管理过程</a:t>
            </a:r>
            <a:endParaRPr/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627131" y="1169735"/>
            <a:ext cx="4910385" cy="167321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内容包含但不限于如下：</a:t>
            </a:r>
            <a:endParaRPr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团队成员及团队分工阐述</a:t>
            </a:r>
            <a:endParaRPr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项目筹备过程</a:t>
            </a:r>
            <a:endParaRPr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48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小时项目执行计划及阶段性目标实现过程阐述</a:t>
            </a:r>
            <a:endParaRPr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48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小时项目中遇到的困难及解决方式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"/>
          <p:cNvSpPr>
            <a:spLocks noChangeArrowheads="1"/>
          </p:cNvSpPr>
          <p:nvPr/>
        </p:nvSpPr>
        <p:spPr bwMode="auto">
          <a:xfrm>
            <a:off x="597087" y="615676"/>
            <a:ext cx="36381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000" dirty="0">
                <a:latin typeface="MiSans Demibold" pitchFamily="50" charset="-122"/>
                <a:ea typeface="MiSans Demibold" pitchFamily="50" charset="-122"/>
                <a:cs typeface="MiSans Demibold" pitchFamily="50" charset="-122"/>
              </a:rPr>
              <a:t>其他补充信息（标题可换）</a:t>
            </a:r>
            <a:endParaRPr/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97087" y="1208895"/>
            <a:ext cx="5995169" cy="703719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内容包含但不限于如下：</a:t>
            </a:r>
            <a:endParaRPr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模板中未包含，但评审</a:t>
            </a:r>
            <a:r>
              <a:rPr lang="en-US" altLang="zh-CN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/</a:t>
            </a:r>
            <a:r>
              <a:rPr lang="zh-CN" altLang="en-US" sz="1400" dirty="0">
                <a:latin typeface="MiSans" pitchFamily="50" charset="-122"/>
                <a:ea typeface="MiSans" pitchFamily="50" charset="-122"/>
                <a:cs typeface="MiSans" pitchFamily="50" charset="-122"/>
              </a:rPr>
              <a:t>答辩时需要的补充展示的信息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2026-07-26T21:44:55Z</dcterms:created>
  <dcterms:modified xsi:type="dcterms:W3CDTF">2026-07-26T21:44:55Z</dcterms:modified>
</cp:coreProperties>
</file>